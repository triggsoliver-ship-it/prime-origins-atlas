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5089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Origins · Confidential · For professional / qualified investors only · Illustrative projections subject to diligence and definitive documentation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8458200" y="483260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  </a:t>
            </a:r>
            <a:pPr indent="0" marL="0">
              <a:buNone/>
            </a:pPr>
            <a:r>
              <a:rPr lang="en-US" sz="1700" b="1" spc="7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ORIGINS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California craft cannabis for the hash market.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502920" y="1993392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Appellation-grade cultivation in Mendocino County, paired with authentic Moroccan hash imported through our established partners — every batch sold with verifiable provenance.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880360"/>
            <a:ext cx="1993392" cy="1078992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2880360"/>
            <a:ext cx="1993392" cy="4114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008376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$5.0M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02920" y="344728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round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660904" y="2880360"/>
            <a:ext cx="1993392" cy="1078992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13" name="Shape 11"/>
          <p:cNvSpPr/>
          <p:nvPr/>
        </p:nvSpPr>
        <p:spPr>
          <a:xfrm>
            <a:off x="2660904" y="2880360"/>
            <a:ext cx="1993392" cy="4114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4" name="Text 12"/>
          <p:cNvSpPr/>
          <p:nvPr/>
        </p:nvSpPr>
        <p:spPr>
          <a:xfrm>
            <a:off x="2660904" y="3008376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2,094 lbs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660904" y="344728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California harvest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18888" y="2880360"/>
            <a:ext cx="1993392" cy="1078992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17" name="Shape 15"/>
          <p:cNvSpPr/>
          <p:nvPr/>
        </p:nvSpPr>
        <p:spPr>
          <a:xfrm>
            <a:off x="4818888" y="2880360"/>
            <a:ext cx="1993392" cy="4114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8" name="Text 16"/>
          <p:cNvSpPr/>
          <p:nvPr/>
        </p:nvSpPr>
        <p:spPr>
          <a:xfrm>
            <a:off x="4818888" y="3008376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$12.6M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818888" y="344728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 Phase 1 revenue plan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76872" y="2880360"/>
            <a:ext cx="1993392" cy="1078992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21" name="Shape 19"/>
          <p:cNvSpPr/>
          <p:nvPr/>
        </p:nvSpPr>
        <p:spPr>
          <a:xfrm>
            <a:off x="6976872" y="2880360"/>
            <a:ext cx="1993392" cy="4114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2" name="Text 20"/>
          <p:cNvSpPr/>
          <p:nvPr/>
        </p:nvSpPr>
        <p:spPr>
          <a:xfrm>
            <a:off x="6976872" y="3008376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976872" y="344728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chains, one brand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42245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Oliver Triggs, CEO  ·  Founding Partners: Justin Calvino &amp; Grant Robshaw  ·  June 2026  ·  primeorigins.org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2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  </a:t>
            </a:r>
            <a:pPr indent="0" marL="0">
              <a:buNone/>
            </a:pPr>
            <a:r>
              <a:rPr lang="en-US" sz="1100" b="1" spc="4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ORIGINS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85089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Origins · Confidential · For professional / qualified investors only · Illustrative projections subject to diligence and definitive documentation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458200" y="483260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do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10424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 it in California. Import it from Morocco. Sell it with proof.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2670048" cy="1993392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81328"/>
            <a:ext cx="45720" cy="1993392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627632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are building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984248"/>
            <a:ext cx="230428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premium hash house: sun-grown, appellation-certified cannabis cultivated in Anderson Valley and processed into hash, rosin and pre-rolls — alongside an import line of traditional Moroccan hash.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82696" y="1481328"/>
            <a:ext cx="2670048" cy="1993392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12" name="Shape 10"/>
          <p:cNvSpPr/>
          <p:nvPr/>
        </p:nvSpPr>
        <p:spPr>
          <a:xfrm>
            <a:off x="3282696" y="1481328"/>
            <a:ext cx="45720" cy="1993392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3" name="Text 11"/>
          <p:cNvSpPr/>
          <p:nvPr/>
        </p:nvSpPr>
        <p:spPr>
          <a:xfrm>
            <a:off x="3465576" y="1627632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65576" y="1984248"/>
            <a:ext cx="230428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and solventless concentrates are the fastest-growing premium category in cannabis, and Morocco's regulated framework has opened a legal route for traditional hash for the first time.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62472" y="1481328"/>
            <a:ext cx="2670048" cy="1993392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16" name="Shape 14"/>
          <p:cNvSpPr/>
          <p:nvPr/>
        </p:nvSpPr>
        <p:spPr>
          <a:xfrm>
            <a:off x="6062472" y="1481328"/>
            <a:ext cx="45720" cy="1993392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7" name="Text 15"/>
          <p:cNvSpPr/>
          <p:nvPr/>
        </p:nvSpPr>
        <p:spPr>
          <a:xfrm>
            <a:off x="6245352" y="1627632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 win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45352" y="1984248"/>
            <a:ext cx="230428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Justin Calvino founded California's cannabis appellation system. Our Moroccan partners give us heritage product no domestic competitor can copy. Provenance is documented on the Prime Origins platform.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703320"/>
            <a:ext cx="8193024" cy="841248"/>
          </a:xfrm>
          <a:prstGeom prst="rect">
            <a:avLst/>
          </a:prstGeom>
          <a:solidFill>
            <a:srgbClr val="0E1A14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80390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$5.0M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85800" y="42428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· SAFE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697480" y="380390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$12.6M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2697480" y="42428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 CA revenue plan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09160" y="380390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$35–44/g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4709160" y="42428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&amp; rosin pricing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720840" y="380390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720840" y="42428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provenance-documented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2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  </a:t>
            </a:r>
            <a:pPr indent="0" marL="0">
              <a:buNone/>
            </a:pPr>
            <a:r>
              <a:rPr lang="en-US" sz="1100" b="1" spc="4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ORIGINS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85089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Origins · Confidential · For professional / qualified investors only · Illustrative projections subject to diligence and definitive documentation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458200" y="483260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hash. Why now.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10424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premium end of cannabis is moving from flower to craft concentrates.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5486400" cy="841248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81328"/>
            <a:ext cx="45720" cy="84124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5727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1554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is the premium category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43000" y="1810512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Solventless hash and rosin command some of the highest per-gram prices in the regulated market — $35/g hash and $44/g rosin in our pricing model, versus commodity flower economics.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432304"/>
            <a:ext cx="5486400" cy="841248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2432304"/>
            <a:ext cx="45720" cy="84124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252374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43000" y="25054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Authenticity sells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43000" y="2761488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Appellation-certified, sun-grown cannabis commands roughly a 30% premium over average California outdoor. Terroir, certification and story move product at the top of the market.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3383280"/>
            <a:ext cx="5486400" cy="841248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" y="3383280"/>
            <a:ext cx="45720" cy="84124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3474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143000" y="34564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Morocco just opened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43000" y="3712464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world's most famous hash origin now has a formal regulated export route. Authentic, legally imported Moroccan hash is a first-mover product in premium markets.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72200" y="1481328"/>
            <a:ext cx="2523744" cy="2779776"/>
          </a:xfrm>
          <a:prstGeom prst="rect">
            <a:avLst/>
          </a:prstGeom>
          <a:solidFill>
            <a:srgbClr val="21392D"/>
          </a:solidFill>
          <a:ln/>
        </p:spPr>
      </p:sp>
      <p:sp>
        <p:nvSpPr>
          <p:cNvPr id="23" name="Shape 21"/>
          <p:cNvSpPr/>
          <p:nvPr/>
        </p:nvSpPr>
        <p:spPr>
          <a:xfrm>
            <a:off x="6172200" y="1481328"/>
            <a:ext cx="45720" cy="2779776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1627632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POSITION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55080" y="193852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$35/g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379208" y="196596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hash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55080" y="250545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$44/g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379208" y="2532888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rosin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55080" y="30723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+30%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379208" y="3099816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appellation premium vs. avg CA outdoor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55080" y="382219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from Phase 1 California revenue model.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02920" y="44348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Investor takeaway: we sit at the premium end of the fastest-growing category, with two origins of supply.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  </a:t>
            </a:r>
            <a:pPr indent="0" marL="0">
              <a:buNone/>
            </a:pPr>
            <a:r>
              <a:rPr lang="en-US" sz="1100" b="1" spc="4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ORIGINS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85089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Origins · Confidential · For professional / qualified investors only · Illustrative projections subject to diligence and definitive documentation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458200" y="483260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supply engines. One brand.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10424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Domestic craft production plus imported heritage hash.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517904"/>
            <a:ext cx="4041648" cy="2395728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517904"/>
            <a:ext cx="45720" cy="239572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664208"/>
            <a:ext cx="3630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· CULTIVATE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" y="1938528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Vista Ranch, Anderson Valley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3232" y="2295144"/>
            <a:ext cx="358444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60,000 sq ft licensed canopy — full-term outdoor and hoop house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Navarro River Cannabis Appellation — certified sun-grown terroir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Regenerative methods: smart pots, engineered soil, watershed restoration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2,094 lbs bud + 837 lbs trim projected — graded into flower, rosin, hash and pre-rolls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81728" y="1517904"/>
            <a:ext cx="4041648" cy="2395728"/>
          </a:xfrm>
          <a:prstGeom prst="rect">
            <a:avLst/>
          </a:prstGeom>
          <a:solidFill>
            <a:srgbClr val="21392D"/>
          </a:solidFill>
          <a:ln/>
        </p:spPr>
      </p:sp>
      <p:sp>
        <p:nvSpPr>
          <p:cNvPr id="13" name="Shape 11"/>
          <p:cNvSpPr/>
          <p:nvPr/>
        </p:nvSpPr>
        <p:spPr>
          <a:xfrm>
            <a:off x="4681728" y="1517904"/>
            <a:ext cx="45720" cy="239572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664208"/>
            <a:ext cx="3630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MOROCCO · IMPORT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1938528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Moroccan hash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92040" y="2295144"/>
            <a:ext cx="358444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partner farms operating inside Morocco's regulated framework (ANRAC)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Centuries-old craft: the world's most recognised hash origin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chain of custody — COAs, batch records, export files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heritage product line domestic competitors cannot replicate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416052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brand, two origins: California craft and Moroccan heritage — both sold with full provenance documentation.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  </a:t>
            </a:r>
            <a:pPr indent="0" marL="0">
              <a:buNone/>
            </a:pPr>
            <a:r>
              <a:rPr lang="en-US" sz="1100" b="1" spc="4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ORIGINS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85089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Origins · Confidential · For professional / qualified investors only · Illustrative projections subject to diligence and definitive documentation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458200" y="483260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California production — Phase 1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10424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60,000 sq ft, two-track cultivation built for the hash market.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4041648" cy="1170432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81328"/>
            <a:ext cx="45720" cy="1170432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9" name="Text 7"/>
          <p:cNvSpPr/>
          <p:nvPr/>
        </p:nvSpPr>
        <p:spPr>
          <a:xfrm>
            <a:off x="2880360" y="16276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594 lbs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13232" y="16093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Full-term outdoor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" y="186537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Appellation certified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13232" y="2157984"/>
            <a:ext cx="3630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297 plants · smart pots · engineered soil · est. 2 lbs per plant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81728" y="1481328"/>
            <a:ext cx="4041648" cy="1170432"/>
          </a:xfrm>
          <a:prstGeom prst="rect">
            <a:avLst/>
          </a:prstGeom>
          <a:solidFill>
            <a:srgbClr val="21392D"/>
          </a:solidFill>
          <a:ln/>
        </p:spPr>
      </p:sp>
      <p:sp>
        <p:nvSpPr>
          <p:cNvPr id="14" name="Shape 12"/>
          <p:cNvSpPr/>
          <p:nvPr/>
        </p:nvSpPr>
        <p:spPr>
          <a:xfrm>
            <a:off x="4681728" y="1481328"/>
            <a:ext cx="45720" cy="1170432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5" name="Text 13"/>
          <p:cNvSpPr/>
          <p:nvPr/>
        </p:nvSpPr>
        <p:spPr>
          <a:xfrm>
            <a:off x="7059168" y="16276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1,500 lbs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892040" y="16093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Hoop house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92040" y="186537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cultivation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92040" y="2157984"/>
            <a:ext cx="3630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seasons · environmental control · consistent hash-grade material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281635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projected harvest: 2,094 lbs bud + 837 lbs trim — graded so every pound has a destination: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200400"/>
            <a:ext cx="1993392" cy="1078992"/>
          </a:xfrm>
          <a:prstGeom prst="rect">
            <a:avLst/>
          </a:prstGeom>
          <a:solidFill>
            <a:srgbClr val="0E1A14"/>
          </a:solidFill>
          <a:ln/>
        </p:spPr>
      </p:sp>
      <p:sp>
        <p:nvSpPr>
          <p:cNvPr id="21" name="Shape 19"/>
          <p:cNvSpPr/>
          <p:nvPr/>
        </p:nvSpPr>
        <p:spPr>
          <a:xfrm>
            <a:off x="502920" y="3200400"/>
            <a:ext cx="1993392" cy="4114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31012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 · 30%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354787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628 lbs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0080" y="3895344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quarter-oz flower jars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9464" y="3200400"/>
            <a:ext cx="1993392" cy="1078992"/>
          </a:xfrm>
          <a:prstGeom prst="rect">
            <a:avLst/>
          </a:prstGeom>
          <a:solidFill>
            <a:srgbClr val="0E1A14"/>
          </a:solidFill>
          <a:ln/>
        </p:spPr>
      </p:sp>
      <p:sp>
        <p:nvSpPr>
          <p:cNvPr id="26" name="Shape 24"/>
          <p:cNvSpPr/>
          <p:nvPr/>
        </p:nvSpPr>
        <p:spPr>
          <a:xfrm>
            <a:off x="2569464" y="3200400"/>
            <a:ext cx="1993392" cy="4114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7" name="Text 25"/>
          <p:cNvSpPr/>
          <p:nvPr/>
        </p:nvSpPr>
        <p:spPr>
          <a:xfrm>
            <a:off x="2706624" y="331012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Mediums · 40%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06624" y="354787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838 lbs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2706624" y="3895344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rosin &amp; concentrates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36008" y="3200400"/>
            <a:ext cx="1993392" cy="1078992"/>
          </a:xfrm>
          <a:prstGeom prst="rect">
            <a:avLst/>
          </a:prstGeom>
          <a:solidFill>
            <a:srgbClr val="0E1A14"/>
          </a:solidFill>
          <a:ln/>
        </p:spPr>
      </p:sp>
      <p:sp>
        <p:nvSpPr>
          <p:cNvPr id="31" name="Shape 29"/>
          <p:cNvSpPr/>
          <p:nvPr/>
        </p:nvSpPr>
        <p:spPr>
          <a:xfrm>
            <a:off x="4636008" y="3200400"/>
            <a:ext cx="1993392" cy="4114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32" name="Text 30"/>
          <p:cNvSpPr/>
          <p:nvPr/>
        </p:nvSpPr>
        <p:spPr>
          <a:xfrm>
            <a:off x="4773168" y="331012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Smalls · 30%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73168" y="354787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628 lbs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4773168" y="3895344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hash &amp; pre-rolls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702552" y="3200400"/>
            <a:ext cx="1993392" cy="1078992"/>
          </a:xfrm>
          <a:prstGeom prst="rect">
            <a:avLst/>
          </a:prstGeom>
          <a:solidFill>
            <a:srgbClr val="0E1A14"/>
          </a:solidFill>
          <a:ln/>
        </p:spPr>
      </p:sp>
      <p:sp>
        <p:nvSpPr>
          <p:cNvPr id="36" name="Shape 34"/>
          <p:cNvSpPr/>
          <p:nvPr/>
        </p:nvSpPr>
        <p:spPr>
          <a:xfrm>
            <a:off x="6702552" y="3200400"/>
            <a:ext cx="1993392" cy="4114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37" name="Text 35"/>
          <p:cNvSpPr/>
          <p:nvPr/>
        </p:nvSpPr>
        <p:spPr>
          <a:xfrm>
            <a:off x="6839712" y="331012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· +40%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39712" y="354787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837 lbs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6839712" y="3895344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hash &amp; pre-rolls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  </a:t>
            </a:r>
            <a:pPr indent="0" marL="0">
              <a:buNone/>
            </a:pPr>
            <a:r>
              <a:rPr lang="en-US" sz="1100" b="1" spc="4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ORIGINS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85089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Origins · Confidential · For professional / qualified investors only · Illustrative projections subject to diligence and definitive documentation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458200" y="483260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Moroccan hash line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10424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 product, regulated route, established partners.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517904"/>
            <a:ext cx="1993392" cy="1755648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8" name="Shape 6"/>
          <p:cNvSpPr/>
          <p:nvPr/>
        </p:nvSpPr>
        <p:spPr>
          <a:xfrm>
            <a:off x="649224" y="1664208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2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" y="2157984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farms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" y="2432304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Long-standing relationships with cultivators in Morocco's traditional hash regions.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9464" y="1517904"/>
            <a:ext cx="1993392" cy="1755648"/>
          </a:xfrm>
          <a:prstGeom prst="rect">
            <a:avLst/>
          </a:prstGeom>
          <a:solidFill>
            <a:srgbClr val="21392D"/>
          </a:solidFill>
          <a:ln/>
        </p:spPr>
      </p:sp>
      <p:sp>
        <p:nvSpPr>
          <p:cNvPr id="13" name="Shape 11"/>
          <p:cNvSpPr/>
          <p:nvPr/>
        </p:nvSpPr>
        <p:spPr>
          <a:xfrm>
            <a:off x="2715768" y="1664208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4" name="Text 12"/>
          <p:cNvSpPr/>
          <p:nvPr/>
        </p:nvSpPr>
        <p:spPr>
          <a:xfrm>
            <a:off x="2715768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2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15768" y="2157984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framework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15768" y="2432304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run inside Morocco's formal legal-cannabis framework administered through ANRAC.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36008" y="1517904"/>
            <a:ext cx="1993392" cy="1755648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18" name="Shape 16"/>
          <p:cNvSpPr/>
          <p:nvPr/>
        </p:nvSpPr>
        <p:spPr>
          <a:xfrm>
            <a:off x="4782312" y="1664208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9" name="Text 17"/>
          <p:cNvSpPr/>
          <p:nvPr/>
        </p:nvSpPr>
        <p:spPr>
          <a:xfrm>
            <a:off x="4782312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2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82312" y="2157984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export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82312" y="2432304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records, certificates of analysis and chain-of-custody files travel with every shipment.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02552" y="1517904"/>
            <a:ext cx="1993392" cy="1755648"/>
          </a:xfrm>
          <a:prstGeom prst="rect">
            <a:avLst/>
          </a:prstGeom>
          <a:solidFill>
            <a:srgbClr val="21392D"/>
          </a:solidFill>
          <a:ln/>
        </p:spPr>
      </p:sp>
      <p:sp>
        <p:nvSpPr>
          <p:cNvPr id="23" name="Shape 21"/>
          <p:cNvSpPr/>
          <p:nvPr/>
        </p:nvSpPr>
        <p:spPr>
          <a:xfrm>
            <a:off x="6848856" y="1664208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4" name="Text 22"/>
          <p:cNvSpPr/>
          <p:nvPr/>
        </p:nvSpPr>
        <p:spPr>
          <a:xfrm>
            <a:off x="6848856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2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48856" y="2157984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placement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48856" y="2432304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heritage hash positioned alongside our California line in licensed channels.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2920" y="3493008"/>
            <a:ext cx="8193024" cy="914400"/>
          </a:xfrm>
          <a:prstGeom prst="rect">
            <a:avLst/>
          </a:prstGeom>
          <a:solidFill>
            <a:srgbClr val="0E1A14"/>
          </a:solidFill>
          <a:ln/>
        </p:spPr>
      </p:sp>
      <p:sp>
        <p:nvSpPr>
          <p:cNvPr id="28" name="Text 26"/>
          <p:cNvSpPr/>
          <p:nvPr/>
        </p:nvSpPr>
        <p:spPr>
          <a:xfrm>
            <a:off x="713232" y="36027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2468880" y="3584448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Moroccan hash is the most recognised name in the category, and a legal import route is brand-new. Securing supply, documentation and shelf placement first creates an advantage that compounds — while diversifying us beyond a single harvest or geography.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  </a:t>
            </a:r>
            <a:pPr indent="0" marL="0">
              <a:buNone/>
            </a:pPr>
            <a:r>
              <a:rPr lang="en-US" sz="1100" b="1" spc="4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ORIGINS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85089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Origins · Confidential · For professional / qualified investors only · Illustrative projections subject to diligence and definitive documentation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458200" y="483260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revenue plan — 18 months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10424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California operations alone support the plan. Moroccan imports are upside.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5361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Pre-rolls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176479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398,931 units @ $13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834640" y="1572768"/>
            <a:ext cx="2834640" cy="29260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0" name="Text 8"/>
          <p:cNvSpPr/>
          <p:nvPr/>
        </p:nvSpPr>
        <p:spPr>
          <a:xfrm>
            <a:off x="5742432" y="157276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$5.19M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0665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Rosin &amp; concentrates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229514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56,991 g @ $44/g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834640" y="2103120"/>
            <a:ext cx="1371966" cy="292608"/>
          </a:xfrm>
          <a:prstGeom prst="rect">
            <a:avLst/>
          </a:prstGeom>
          <a:solidFill>
            <a:srgbClr val="6FA287"/>
          </a:solidFill>
          <a:ln/>
        </p:spPr>
      </p:sp>
      <p:sp>
        <p:nvSpPr>
          <p:cNvPr id="14" name="Text 12"/>
          <p:cNvSpPr/>
          <p:nvPr/>
        </p:nvSpPr>
        <p:spPr>
          <a:xfrm>
            <a:off x="4279758" y="21031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$2.51M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25968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hash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82549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66,489 g @ $35/g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834640" y="2633472"/>
            <a:ext cx="1272753" cy="292608"/>
          </a:xfrm>
          <a:prstGeom prst="rect">
            <a:avLst/>
          </a:prstGeom>
          <a:solidFill>
            <a:srgbClr val="6FA287"/>
          </a:solidFill>
          <a:ln/>
        </p:spPr>
      </p:sp>
      <p:sp>
        <p:nvSpPr>
          <p:cNvPr id="18" name="Text 16"/>
          <p:cNvSpPr/>
          <p:nvPr/>
        </p:nvSpPr>
        <p:spPr>
          <a:xfrm>
            <a:off x="4180545" y="26334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$2.33M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1272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Quarter-oz flower jars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33558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40,203 units @ $56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834640" y="3163824"/>
            <a:ext cx="1230234" cy="292608"/>
          </a:xfrm>
          <a:prstGeom prst="rect">
            <a:avLst/>
          </a:prstGeom>
          <a:solidFill>
            <a:srgbClr val="6FA287"/>
          </a:solidFill>
          <a:ln/>
        </p:spPr>
      </p:sp>
      <p:sp>
        <p:nvSpPr>
          <p:cNvPr id="22" name="Text 20"/>
          <p:cNvSpPr/>
          <p:nvPr/>
        </p:nvSpPr>
        <p:spPr>
          <a:xfrm>
            <a:off x="4138026" y="316382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$2.25M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657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Agritourism &amp; seeds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38862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stays, workshops, genetics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834640" y="3694176"/>
            <a:ext cx="158740" cy="292608"/>
          </a:xfrm>
          <a:prstGeom prst="rect">
            <a:avLst/>
          </a:prstGeom>
          <a:solidFill>
            <a:srgbClr val="6FA287"/>
          </a:solidFill>
          <a:ln/>
        </p:spPr>
      </p:sp>
      <p:sp>
        <p:nvSpPr>
          <p:cNvPr id="26" name="Text 24"/>
          <p:cNvSpPr/>
          <p:nvPr/>
        </p:nvSpPr>
        <p:spPr>
          <a:xfrm>
            <a:off x="3066532" y="369417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$0.29M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12280" y="1517904"/>
            <a:ext cx="1883664" cy="2798064"/>
          </a:xfrm>
          <a:prstGeom prst="rect">
            <a:avLst/>
          </a:prstGeom>
          <a:solidFill>
            <a:srgbClr val="21392D"/>
          </a:solidFill>
          <a:ln/>
        </p:spPr>
      </p:sp>
      <p:sp>
        <p:nvSpPr>
          <p:cNvPr id="28" name="Shape 26"/>
          <p:cNvSpPr/>
          <p:nvPr/>
        </p:nvSpPr>
        <p:spPr>
          <a:xfrm>
            <a:off x="6812280" y="1517904"/>
            <a:ext cx="45720" cy="2798064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9" name="Text 27"/>
          <p:cNvSpPr/>
          <p:nvPr/>
        </p:nvSpPr>
        <p:spPr>
          <a:xfrm>
            <a:off x="6812280" y="1682496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$12.6M</a:t>
            </a:r>
            <a:endParaRPr lang="en-US" sz="2300" dirty="0"/>
          </a:p>
        </p:txBody>
      </p:sp>
      <p:sp>
        <p:nvSpPr>
          <p:cNvPr id="30" name="Text 28"/>
          <p:cNvSpPr/>
          <p:nvPr/>
        </p:nvSpPr>
        <p:spPr>
          <a:xfrm>
            <a:off x="6812280" y="2121408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18-month revenue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12280" y="2505456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$12.3M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812280" y="2944368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cultivation products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812280" y="320040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6976872" y="349300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Moroccan import revenue not yet modelled — pure upside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43159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and pricing from the Vista Ranch Phase 1 cultivation model (2,094 lbs bud + 837 lbs trim). Projections are illustrative, not guaranteed.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  </a:t>
            </a:r>
            <a:pPr indent="0" marL="0">
              <a:buNone/>
            </a:pPr>
            <a:r>
              <a:rPr lang="en-US" sz="1100" b="1" spc="4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ORIGINS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85089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Origins · Confidential · For professional / qualified investors only · Illustrative projections subject to diligence and definitive documentation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458200" y="483260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batch carries its proof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10424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Prime Origins is more than a farm — it is a provenance platform.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517904"/>
            <a:ext cx="2670048" cy="1828800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517904"/>
            <a:ext cx="45720" cy="182880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66420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passports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1993392"/>
            <a:ext cx="23042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batch is logged on the Prime Origins platform with certificates of analysis, origin data and ESG records — traceable from seed to shelf.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82696" y="1517904"/>
            <a:ext cx="2670048" cy="1828800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12" name="Shape 10"/>
          <p:cNvSpPr/>
          <p:nvPr/>
        </p:nvSpPr>
        <p:spPr>
          <a:xfrm>
            <a:off x="3282696" y="1517904"/>
            <a:ext cx="45720" cy="182880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3" name="Text 11"/>
          <p:cNvSpPr/>
          <p:nvPr/>
        </p:nvSpPr>
        <p:spPr>
          <a:xfrm>
            <a:off x="3465576" y="166420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to buyers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65576" y="1993392"/>
            <a:ext cx="23042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primeorigins.org connects verified producers directly with global buyers, cutting intermediaries and protecting margin.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62472" y="1517904"/>
            <a:ext cx="2670048" cy="1828800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16" name="Shape 14"/>
          <p:cNvSpPr/>
          <p:nvPr/>
        </p:nvSpPr>
        <p:spPr>
          <a:xfrm>
            <a:off x="6062472" y="1517904"/>
            <a:ext cx="45720" cy="182880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7" name="Text 15"/>
          <p:cNvSpPr/>
          <p:nvPr/>
        </p:nvSpPr>
        <p:spPr>
          <a:xfrm>
            <a:off x="6245352" y="166420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Carbon &amp; ESG value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45352" y="1993392"/>
            <a:ext cx="23042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Regenerative practices feed Prime Origins Atlas, our carbon-credit marketplace — turning sustainability into a second revenue story.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547872"/>
            <a:ext cx="8193024" cy="868680"/>
          </a:xfrm>
          <a:prstGeom prst="rect">
            <a:avLst/>
          </a:prstGeom>
          <a:solidFill>
            <a:srgbClr val="0E1A14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" y="3657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buyers care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468880" y="363931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buyers want proof: COAs, batch records and chain of custody. Our products ship with all three by default — the documentation standard is built into the brand, not bolted on.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  </a:t>
            </a:r>
            <a:pPr indent="0" marL="0">
              <a:buNone/>
            </a:pPr>
            <a:r>
              <a:rPr lang="en-US" sz="1100" b="1" spc="4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ORIGINS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85089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Origins · Confidential · For professional / qualified investors only · Illustrative projections subject to diligence and definitive documentation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458200" y="483260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$5.0M goes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10424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round funds production, first import inventory and the route to revenue.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5819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cultivation &amp; facility build-out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86200" y="1591056"/>
            <a:ext cx="3017520" cy="310896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9" name="Text 7"/>
          <p:cNvSpPr/>
          <p:nvPr/>
        </p:nvSpPr>
        <p:spPr>
          <a:xfrm>
            <a:off x="6976872" y="159105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$1.75M  ·  35%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209397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Moroccan import partnership &amp; first inventory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86200" y="2103120"/>
            <a:ext cx="2154509" cy="310896"/>
          </a:xfrm>
          <a:prstGeom prst="rect">
            <a:avLst/>
          </a:prstGeom>
          <a:solidFill>
            <a:srgbClr val="6FA287"/>
          </a:solidFill>
          <a:ln/>
        </p:spPr>
      </p:sp>
      <p:sp>
        <p:nvSpPr>
          <p:cNvPr id="12" name="Text 10"/>
          <p:cNvSpPr/>
          <p:nvPr/>
        </p:nvSpPr>
        <p:spPr>
          <a:xfrm>
            <a:off x="6113861" y="21031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$1.25M  ·  25%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2606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Licensing, compliance &amp; import permits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86200" y="2615184"/>
            <a:ext cx="1294516" cy="310896"/>
          </a:xfrm>
          <a:prstGeom prst="rect">
            <a:avLst/>
          </a:prstGeom>
          <a:solidFill>
            <a:srgbClr val="6FA287"/>
          </a:solidFill>
          <a:ln/>
        </p:spPr>
      </p:sp>
      <p:sp>
        <p:nvSpPr>
          <p:cNvPr id="15" name="Text 13"/>
          <p:cNvSpPr/>
          <p:nvPr/>
        </p:nvSpPr>
        <p:spPr>
          <a:xfrm>
            <a:off x="5253868" y="261518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$0.75M  ·  15%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311810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Brand, sales &amp; distribution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86200" y="3127248"/>
            <a:ext cx="1035009" cy="310896"/>
          </a:xfrm>
          <a:prstGeom prst="rect">
            <a:avLst/>
          </a:prstGeom>
          <a:solidFill>
            <a:srgbClr val="6FA287"/>
          </a:solidFill>
          <a:ln/>
        </p:spPr>
      </p:sp>
      <p:sp>
        <p:nvSpPr>
          <p:cNvPr id="18" name="Text 16"/>
          <p:cNvSpPr/>
          <p:nvPr/>
        </p:nvSpPr>
        <p:spPr>
          <a:xfrm>
            <a:off x="4994361" y="31272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$0.60M  ·  12%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6301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&amp; operating reserve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86200" y="3639312"/>
            <a:ext cx="1119500" cy="310896"/>
          </a:xfrm>
          <a:prstGeom prst="rect">
            <a:avLst/>
          </a:prstGeom>
          <a:solidFill>
            <a:srgbClr val="6FA287"/>
          </a:solidFill>
          <a:ln/>
        </p:spPr>
      </p:sp>
      <p:sp>
        <p:nvSpPr>
          <p:cNvPr id="21" name="Text 19"/>
          <p:cNvSpPr/>
          <p:nvPr/>
        </p:nvSpPr>
        <p:spPr>
          <a:xfrm>
            <a:off x="5078852" y="36393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$0.65M  ·  13%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4206240"/>
            <a:ext cx="8193024" cy="384048"/>
          </a:xfrm>
          <a:prstGeom prst="rect">
            <a:avLst/>
          </a:prstGeom>
          <a:solidFill>
            <a:srgbClr val="0E1A14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42519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create evidence before the next capital commitment: licences secured, crop planted, first import landed, first sales documented.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  </a:t>
            </a:r>
            <a:pPr indent="0" marL="0">
              <a:buNone/>
            </a:pPr>
            <a:r>
              <a:rPr lang="en-US" sz="1100" b="1" spc="4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ORIGINS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85089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Origins · Confidential · For professional / qualified investors only · Illustrative projections subject to diligence and definitive documentation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458200" y="483260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 roadmap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10424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phases from funding to a scaled, two-origin hash brand.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1993392" cy="2240280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554480"/>
            <a:ext cx="1993392" cy="4572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" y="1682496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M1–3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" y="199339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" y="2304288"/>
            <a:ext cx="1700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round, finalise licences, prepare Vista Ranch for planting, sign Moroccan import agreements.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2569464" y="1554480"/>
            <a:ext cx="1993392" cy="2240280"/>
          </a:xfrm>
          <a:prstGeom prst="rect">
            <a:avLst/>
          </a:prstGeom>
          <a:solidFill>
            <a:srgbClr val="21392D"/>
          </a:solidFill>
          <a:ln/>
        </p:spPr>
      </p:sp>
      <p:sp>
        <p:nvSpPr>
          <p:cNvPr id="13" name="Shape 11"/>
          <p:cNvSpPr/>
          <p:nvPr/>
        </p:nvSpPr>
        <p:spPr>
          <a:xfrm>
            <a:off x="2569464" y="1554480"/>
            <a:ext cx="1993392" cy="4572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4" name="Text 12"/>
          <p:cNvSpPr/>
          <p:nvPr/>
        </p:nvSpPr>
        <p:spPr>
          <a:xfrm>
            <a:off x="2715768" y="1682496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M4–9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15768" y="199339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grow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15768" y="2304288"/>
            <a:ext cx="1700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and cultivate the first full season; complete processing infrastructure; first Moroccan shipments documented and landed.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4636008" y="1554480"/>
            <a:ext cx="1993392" cy="2240280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18" name="Shape 16"/>
          <p:cNvSpPr/>
          <p:nvPr/>
        </p:nvSpPr>
        <p:spPr>
          <a:xfrm>
            <a:off x="4636008" y="1554480"/>
            <a:ext cx="1993392" cy="4572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9" name="Text 17"/>
          <p:cNvSpPr/>
          <p:nvPr/>
        </p:nvSpPr>
        <p:spPr>
          <a:xfrm>
            <a:off x="4782312" y="1682496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M10–18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82312" y="199339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82312" y="2304288"/>
            <a:ext cx="1700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Harvest, grade and process into hash, rosin, jars and pre-rolls; launch both product lines into licensed retail.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6702552" y="1554480"/>
            <a:ext cx="1993392" cy="2240280"/>
          </a:xfrm>
          <a:prstGeom prst="rect">
            <a:avLst/>
          </a:prstGeom>
          <a:solidFill>
            <a:srgbClr val="21392D"/>
          </a:solidFill>
          <a:ln/>
        </p:spPr>
      </p:sp>
      <p:sp>
        <p:nvSpPr>
          <p:cNvPr id="23" name="Shape 21"/>
          <p:cNvSpPr/>
          <p:nvPr/>
        </p:nvSpPr>
        <p:spPr>
          <a:xfrm>
            <a:off x="6702552" y="1554480"/>
            <a:ext cx="1993392" cy="4572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4" name="Text 22"/>
          <p:cNvSpPr/>
          <p:nvPr/>
        </p:nvSpPr>
        <p:spPr>
          <a:xfrm>
            <a:off x="6848856" y="1682496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M18+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48856" y="199339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48856" y="2304288"/>
            <a:ext cx="1700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canopy and import volumes, deepen retail relationships, grow the provenance platform across both origins.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502920" y="40690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phase produces diligence evidence — licences, planting records, import files, COAs, sales data — before the next commitment of capital.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  </a:t>
            </a:r>
            <a:pPr indent="0" marL="0">
              <a:buNone/>
            </a:pPr>
            <a:r>
              <a:rPr lang="en-US" sz="1100" b="1" spc="4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ORIGINS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85089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Origins · Confidential · For professional / qualified investors only · Illustrative projections subject to diligence and definitive documentation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458200" y="483260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Leadership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10424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Founders, board and technology — under one roof.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609344"/>
            <a:ext cx="1993392" cy="1517904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1609344"/>
            <a:ext cx="45720" cy="1517904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" y="1719072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Oliver Triggs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9224" y="1956816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Executive Officer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9224" y="2212848"/>
            <a:ext cx="1719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years in corporate finance including BDO Corporate Finance; led land and hemp ventures across Africa. Drives strategy and the investor pipeline.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2569464" y="1609344"/>
            <a:ext cx="1993392" cy="1517904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14" name="Shape 12"/>
          <p:cNvSpPr/>
          <p:nvPr/>
        </p:nvSpPr>
        <p:spPr>
          <a:xfrm>
            <a:off x="2569464" y="1609344"/>
            <a:ext cx="45720" cy="1517904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5" name="Text 13"/>
          <p:cNvSpPr/>
          <p:nvPr/>
        </p:nvSpPr>
        <p:spPr>
          <a:xfrm>
            <a:off x="2715768" y="1719072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Justin Calvino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715768" y="1956816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Partnerships, Licensing &amp; Ops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15768" y="2212848"/>
            <a:ext cx="1719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years in California cannabis; founder of the Mendocino Appellations Project, co-founder of Emerald Exchange. Leads partnerships, licensing and operations.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4636008" y="1609344"/>
            <a:ext cx="1993392" cy="1517904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19" name="Shape 17"/>
          <p:cNvSpPr/>
          <p:nvPr/>
        </p:nvSpPr>
        <p:spPr>
          <a:xfrm>
            <a:off x="4636008" y="1609344"/>
            <a:ext cx="45720" cy="1517904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0" name="Text 18"/>
          <p:cNvSpPr/>
          <p:nvPr/>
        </p:nvSpPr>
        <p:spPr>
          <a:xfrm>
            <a:off x="4782312" y="1719072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Grant Robshaw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82312" y="1956816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Financial Officer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82312" y="2212848"/>
            <a:ext cx="1719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years across Deloitte, KPMG Bermuda and Conyers. Leads financial structuring, governance and the Moroccan partner relationships.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6702552" y="1609344"/>
            <a:ext cx="1993392" cy="1517904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24" name="Shape 22"/>
          <p:cNvSpPr/>
          <p:nvPr/>
        </p:nvSpPr>
        <p:spPr>
          <a:xfrm>
            <a:off x="6702552" y="1609344"/>
            <a:ext cx="45720" cy="1517904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5" name="Text 23"/>
          <p:cNvSpPr/>
          <p:nvPr/>
        </p:nvSpPr>
        <p:spPr>
          <a:xfrm>
            <a:off x="6848856" y="1719072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Victor Cornejo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48856" y="1956816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Ops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848856" y="2212848"/>
            <a:ext cx="1719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years delivering regulated cannabis and industrial facilities — compliance, scalable manufacturing and technology-driven execution in high-scrutiny environments.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502920" y="32552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CHAIRMAN &amp; TECHNOLOGY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3493008"/>
            <a:ext cx="4041648" cy="1078992"/>
          </a:xfrm>
          <a:prstGeom prst="rect">
            <a:avLst/>
          </a:prstGeom>
          <a:solidFill>
            <a:srgbClr val="21392D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920" y="3493008"/>
            <a:ext cx="45720" cy="1078992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35844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Rene Schuster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88920" y="361188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Chairman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85800" y="3858768"/>
            <a:ext cx="3675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CXO with 25+ years at KPMG, Telefónica, Vodafone, HP and Compaq; expert in turnarounds, digital transformation and growth across tech, telecoms, IT, media, retail and healthcare.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4654296" y="3493008"/>
            <a:ext cx="4041648" cy="1078992"/>
          </a:xfrm>
          <a:prstGeom prst="rect">
            <a:avLst/>
          </a:prstGeom>
          <a:solidFill>
            <a:srgbClr val="21392D"/>
          </a:solidFill>
          <a:ln/>
        </p:spPr>
      </p:sp>
      <p:sp>
        <p:nvSpPr>
          <p:cNvPr id="35" name="Shape 33"/>
          <p:cNvSpPr/>
          <p:nvPr/>
        </p:nvSpPr>
        <p:spPr>
          <a:xfrm>
            <a:off x="4654296" y="3493008"/>
            <a:ext cx="45720" cy="1078992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36" name="Text 34"/>
          <p:cNvSpPr/>
          <p:nvPr/>
        </p:nvSpPr>
        <p:spPr>
          <a:xfrm>
            <a:off x="4837176" y="35844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Patrick Hale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40296" y="361188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Technology Officer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37176" y="3858768"/>
            <a:ext cx="3675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native — launched his first blockchain venture at Stanford, advised global brands and delivered multiple nine-figure tokens. CEO of DreamTech Consulting.</a:t>
            </a:r>
            <a:endParaRPr lang="en-US" sz="8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  </a:t>
            </a:r>
            <a:pPr indent="0" marL="0">
              <a:buNone/>
            </a:pPr>
            <a:r>
              <a:rPr lang="en-US" sz="1100" b="1" spc="4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ORIGINS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85089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Origins · Confidential · For professional / qualified investors only · Illustrative projections subject to diligence and definitive documentation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458200" y="483260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investment opportunity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10424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$5.0M to build a two-origin premium hash brand.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5120640" cy="475488"/>
          </a:xfrm>
          <a:prstGeom prst="rect">
            <a:avLst/>
          </a:prstGeom>
          <a:solidFill>
            <a:srgbClr val="21392D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5448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amount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155448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$5.0M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029968"/>
            <a:ext cx="5120640" cy="475488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02996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202996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— valuation set in definitive documentation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505456"/>
            <a:ext cx="5120640" cy="475488"/>
          </a:xfrm>
          <a:prstGeom prst="rect">
            <a:avLst/>
          </a:prstGeom>
          <a:solidFill>
            <a:srgbClr val="21392D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50545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2505456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production, Moroccan import line, working capital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2980944"/>
            <a:ext cx="5120640" cy="475488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98094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revenue plan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2980944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$12.6M over 18 months (California operations)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456432"/>
            <a:ext cx="5120640" cy="475488"/>
          </a:xfrm>
          <a:prstGeom prst="rect">
            <a:avLst/>
          </a:prstGeom>
          <a:solidFill>
            <a:srgbClr val="21392D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45643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room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68880" y="345643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on request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897880" y="1554480"/>
            <a:ext cx="2798064" cy="2377440"/>
          </a:xfrm>
          <a:prstGeom prst="rect">
            <a:avLst/>
          </a:prstGeom>
          <a:solidFill>
            <a:srgbClr val="21392D"/>
          </a:solidFill>
          <a:ln/>
        </p:spPr>
      </p:sp>
      <p:sp>
        <p:nvSpPr>
          <p:cNvPr id="23" name="Shape 21"/>
          <p:cNvSpPr/>
          <p:nvPr/>
        </p:nvSpPr>
        <p:spPr>
          <a:xfrm>
            <a:off x="5897880" y="1554480"/>
            <a:ext cx="45720" cy="237744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4" name="Text 22"/>
          <p:cNvSpPr/>
          <p:nvPr/>
        </p:nvSpPr>
        <p:spPr>
          <a:xfrm>
            <a:off x="6080760" y="170078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diligence items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080760" y="2029968"/>
            <a:ext cx="243230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Cultivation &amp; revenue model review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and appellation documentation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Moroccan partner &amp; import agreements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pathway for hash imports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&amp; buyer pipeline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4160520"/>
            <a:ext cx="8193024" cy="475488"/>
          </a:xfrm>
          <a:prstGeom prst="rect">
            <a:avLst/>
          </a:prstGeom>
          <a:solidFill>
            <a:srgbClr val="0E1A14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160520"/>
            <a:ext cx="8193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oliver@primeorigins.org   ·   www.primeorigins.org   ·   primeoriginsatlas.org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Prime Origins — Investor Deck</dc:title>
  <dc:subject>PptxGenJS Presentation</dc:subject>
  <dc:creator>Prime Origins</dc:creator>
  <cp:lastModifiedBy>Prime Origins</cp:lastModifiedBy>
  <cp:revision>1</cp:revision>
  <dcterms:created xsi:type="dcterms:W3CDTF">2026-06-04T15:34:47Z</dcterms:created>
  <dcterms:modified xsi:type="dcterms:W3CDTF">2026-06-04T15:34:47Z</dcterms:modified>
</cp:coreProperties>
</file>